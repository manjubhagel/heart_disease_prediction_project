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1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Logistic Regression</c:v>
                </c:pt>
              </c:strCache>
            </c:strRef>
          </c:tx>
          <c:spPr>
            <a:solidFill>
              <a:srgbClr val="3B6EA5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2B2B2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Accuracy</c:v>
                  </c:pt>
                  <c:pt idx="1">
                    <c:v>Precision</c:v>
                  </c:pt>
                  <c:pt idx="2">
                    <c:v>Recall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84.24</c:v>
                </c:pt>
                <c:pt idx="1">
                  <c:v>84.11</c:v>
                </c:pt>
                <c:pt idx="2">
                  <c:v>88.24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Decision Tree</c:v>
                </c:pt>
              </c:strCache>
            </c:strRef>
          </c:tx>
          <c:spPr>
            <a:solidFill>
              <a:srgbClr val="1F3864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2B2B2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Accuracy</c:v>
                  </c:pt>
                  <c:pt idx="1">
                    <c:v>Precision</c:v>
                  </c:pt>
                  <c:pt idx="2">
                    <c:v>Recall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78.26</c:v>
                </c:pt>
                <c:pt idx="1">
                  <c:v>80.39</c:v>
                </c:pt>
                <c:pt idx="2">
                  <c:v>80.39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b="0" i="0" strike="noStrike" sz="1000" u="none">
                  <a:solidFill>
                    <a:srgbClr val="2B2B2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3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6B6B6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  <c:min val="0"/>
        </c:scaling>
        <c:delete val="0"/>
        <c:axPos val="l"/>
        <c:majorGridlines>
          <c:spPr>
            <a:ln w="12700" cap="flat">
              <a:solidFill>
                <a:srgbClr val="E2E8F0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100" b="0" i="0" u="none" strike="noStrike">
                    <a:solidFill>
                      <a:srgbClr val="6B6B6B"/>
                    </a:solidFill>
                    <a:latin typeface="Arial"/>
                  </a:defRPr>
                </a:pPr>
                <a:r>
                  <a:rPr sz="1100" b="0" i="0" u="none" strike="noStrike">
                    <a:solidFill>
                      <a:srgbClr val="6B6B6B"/>
                    </a:solidFill>
                    <a:latin typeface="Arial"/>
                  </a:rPr>
                  <a:t>Score (%)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B6B6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2B2B2B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23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869680" y="-2103120"/>
            <a:ext cx="5486400" cy="5486400"/>
          </a:xfrm>
          <a:prstGeom prst="ellipse">
            <a:avLst/>
          </a:prstGeom>
          <a:solidFill>
            <a:srgbClr val="1F3864">
              <a:alpha val="6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241280" y="4206240"/>
            <a:ext cx="3657600" cy="3657600"/>
          </a:xfrm>
          <a:prstGeom prst="ellipse">
            <a:avLst/>
          </a:prstGeom>
          <a:solidFill>
            <a:srgbClr val="3B6EA5">
              <a:alpha val="4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9144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C9D9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MAJOR MACHINE LEARNING PROJECT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777240" y="1371600"/>
            <a:ext cx="877824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4600"/>
              </a:lnSpc>
              <a:buNone/>
            </a:pPr>
            <a:r>
              <a:rPr lang="en-US" sz="4200" b="1" dirty="0">
                <a:solidFill>
                  <a:srgbClr val="F7F9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Heart Disease Prediction</a:t>
            </a:r>
            <a:endParaRPr lang="en-US" sz="4200" dirty="0"/>
          </a:p>
          <a:p>
            <a:pPr indent="0" marL="0">
              <a:lnSpc>
                <a:spcPts val="4600"/>
              </a:lnSpc>
              <a:buNone/>
            </a:pPr>
            <a:r>
              <a:rPr lang="en-US" sz="4200" b="1" dirty="0">
                <a:solidFill>
                  <a:srgbClr val="F7F9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Using Machine Learning</a:t>
            </a:r>
            <a:endParaRPr lang="en-US" sz="4200" dirty="0"/>
          </a:p>
        </p:txBody>
      </p:sp>
      <p:sp>
        <p:nvSpPr>
          <p:cNvPr id="6" name="Shape 4"/>
          <p:cNvSpPr/>
          <p:nvPr/>
        </p:nvSpPr>
        <p:spPr>
          <a:xfrm>
            <a:off x="822960" y="3429000"/>
            <a:ext cx="54864" cy="914400"/>
          </a:xfrm>
          <a:prstGeom prst="rect">
            <a:avLst/>
          </a:prstGeom>
          <a:solidFill>
            <a:srgbClr val="C9D9E8"/>
          </a:solidFill>
          <a:ln/>
        </p:spPr>
      </p:sp>
      <p:sp>
        <p:nvSpPr>
          <p:cNvPr id="7" name="Text 5"/>
          <p:cNvSpPr/>
          <p:nvPr/>
        </p:nvSpPr>
        <p:spPr>
          <a:xfrm>
            <a:off x="1051560" y="3337560"/>
            <a:ext cx="694944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2200"/>
              </a:lnSpc>
              <a:buNone/>
            </a:pPr>
            <a:r>
              <a:rPr lang="en-US" sz="1300" b="1" dirty="0">
                <a:solidFill>
                  <a:srgbClr val="C9D9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
</a:t>
            </a:r>
            <a:endParaRPr lang="en-US" sz="13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600" dirty="0">
                <a:solidFill>
                  <a:srgbClr val="F7F9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 whether a patient is likely to have heart disease based on clinical features.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822960" y="4892040"/>
            <a:ext cx="3246120" cy="1143000"/>
          </a:xfrm>
          <a:prstGeom prst="roundRect">
            <a:avLst>
              <a:gd name="adj" fmla="val 9600"/>
            </a:avLst>
          </a:prstGeom>
          <a:solidFill>
            <a:srgbClr val="F7F9FC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1051560" y="5056632"/>
            <a:ext cx="822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BDAE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1051560" y="5458968"/>
            <a:ext cx="27889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 Regression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4389120" y="4892040"/>
            <a:ext cx="3246120" cy="1143000"/>
          </a:xfrm>
          <a:prstGeom prst="roundRect">
            <a:avLst>
              <a:gd name="adj" fmla="val 9600"/>
            </a:avLst>
          </a:prstGeom>
          <a:solidFill>
            <a:srgbClr val="F7F9FC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617720" y="5056632"/>
            <a:ext cx="822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BDAE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617720" y="5458968"/>
            <a:ext cx="27889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Tree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822960" y="4507992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9D9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 Models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Objective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1097280"/>
            <a:ext cx="10607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4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main objective of this project is to develop a machine-learning classification system that can predict the likelihood of heart disease.</a:t>
            </a:r>
            <a:endParaRPr lang="en-US" sz="145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5074920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3EAF1"/>
            </a:solidFill>
            <a:prstDash val="solid"/>
          </a:ln>
          <a:effectLst>
            <a:outerShdw sx="100000" sy="100000" kx="0" ky="0" algn="bl" rotWithShape="0" blurRad="76200" dist="25400" dir="5400000">
              <a:srgbClr val="1F3864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41248" y="2203704"/>
            <a:ext cx="438912" cy="438912"/>
          </a:xfrm>
          <a:prstGeom prst="ellipse">
            <a:avLst/>
          </a:prstGeom>
          <a:solidFill>
            <a:srgbClr val="1F3864"/>
          </a:solidFill>
          <a:ln/>
        </p:spPr>
      </p:sp>
      <p:sp>
        <p:nvSpPr>
          <p:cNvPr id="6" name="Text 4"/>
          <p:cNvSpPr/>
          <p:nvPr/>
        </p:nvSpPr>
        <p:spPr>
          <a:xfrm>
            <a:off x="841248" y="2203704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7F9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426464" y="2057400"/>
            <a:ext cx="4114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and preprocess the Heart Disease dataset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172200" y="1965960"/>
            <a:ext cx="5074920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3EAF1"/>
            </a:solidFill>
            <a:prstDash val="solid"/>
          </a:ln>
          <a:effectLst>
            <a:outerShdw sx="100000" sy="100000" kx="0" ky="0" algn="bl" rotWithShape="0" blurRad="76200" dist="25400" dir="5400000">
              <a:srgbClr val="1F3864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373368" y="2203704"/>
            <a:ext cx="438912" cy="438912"/>
          </a:xfrm>
          <a:prstGeom prst="ellipse">
            <a:avLst/>
          </a:prstGeom>
          <a:solidFill>
            <a:srgbClr val="1F3864"/>
          </a:solidFill>
          <a:ln/>
        </p:spPr>
      </p:sp>
      <p:sp>
        <p:nvSpPr>
          <p:cNvPr id="10" name="Text 8"/>
          <p:cNvSpPr/>
          <p:nvPr/>
        </p:nvSpPr>
        <p:spPr>
          <a:xfrm>
            <a:off x="6373368" y="2203704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7F9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6958584" y="2057400"/>
            <a:ext cx="4114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 missing values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40080" y="3081528"/>
            <a:ext cx="5074920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3EAF1"/>
            </a:solidFill>
            <a:prstDash val="solid"/>
          </a:ln>
          <a:effectLst>
            <a:outerShdw sx="100000" sy="100000" kx="0" ky="0" algn="bl" rotWithShape="0" blurRad="76200" dist="25400" dir="5400000">
              <a:srgbClr val="1F3864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841248" y="3319272"/>
            <a:ext cx="438912" cy="438912"/>
          </a:xfrm>
          <a:prstGeom prst="ellipse">
            <a:avLst/>
          </a:prstGeom>
          <a:solidFill>
            <a:srgbClr val="1F3864"/>
          </a:solidFill>
          <a:ln/>
        </p:spPr>
      </p:sp>
      <p:sp>
        <p:nvSpPr>
          <p:cNvPr id="14" name="Text 12"/>
          <p:cNvSpPr/>
          <p:nvPr/>
        </p:nvSpPr>
        <p:spPr>
          <a:xfrm>
            <a:off x="841248" y="3319272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7F9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426464" y="3172968"/>
            <a:ext cx="4114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Encode categorical features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172200" y="3081528"/>
            <a:ext cx="5074920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3EAF1"/>
            </a:solidFill>
            <a:prstDash val="solid"/>
          </a:ln>
          <a:effectLst>
            <a:outerShdw sx="100000" sy="100000" kx="0" ky="0" algn="bl" rotWithShape="0" blurRad="76200" dist="25400" dir="5400000">
              <a:srgbClr val="1F3864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373368" y="3319272"/>
            <a:ext cx="438912" cy="438912"/>
          </a:xfrm>
          <a:prstGeom prst="ellipse">
            <a:avLst/>
          </a:prstGeom>
          <a:solidFill>
            <a:srgbClr val="1F3864"/>
          </a:solidFill>
          <a:ln/>
        </p:spPr>
      </p:sp>
      <p:sp>
        <p:nvSpPr>
          <p:cNvPr id="18" name="Text 16"/>
          <p:cNvSpPr/>
          <p:nvPr/>
        </p:nvSpPr>
        <p:spPr>
          <a:xfrm>
            <a:off x="6373368" y="3319272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7F9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6958584" y="3172968"/>
            <a:ext cx="4114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 numerical features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640080" y="4197096"/>
            <a:ext cx="5074920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3EAF1"/>
            </a:solidFill>
            <a:prstDash val="solid"/>
          </a:ln>
          <a:effectLst>
            <a:outerShdw sx="100000" sy="100000" kx="0" ky="0" algn="bl" rotWithShape="0" blurRad="76200" dist="25400" dir="5400000">
              <a:srgbClr val="1F3864">
                <a:alpha val="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841248" y="4434840"/>
            <a:ext cx="438912" cy="438912"/>
          </a:xfrm>
          <a:prstGeom prst="ellipse">
            <a:avLst/>
          </a:prstGeom>
          <a:solidFill>
            <a:srgbClr val="1F3864"/>
          </a:solidFill>
          <a:ln/>
        </p:spPr>
      </p:sp>
      <p:sp>
        <p:nvSpPr>
          <p:cNvPr id="22" name="Text 20"/>
          <p:cNvSpPr/>
          <p:nvPr/>
        </p:nvSpPr>
        <p:spPr>
          <a:xfrm>
            <a:off x="841248" y="4434840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7F9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1426464" y="4288536"/>
            <a:ext cx="4114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classification models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6172200" y="4197096"/>
            <a:ext cx="5074920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3EAF1"/>
            </a:solidFill>
            <a:prstDash val="solid"/>
          </a:ln>
          <a:effectLst>
            <a:outerShdw sx="100000" sy="100000" kx="0" ky="0" algn="bl" rotWithShape="0" blurRad="76200" dist="25400" dir="5400000">
              <a:srgbClr val="1F3864">
                <a:alpha val="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373368" y="4434840"/>
            <a:ext cx="438912" cy="438912"/>
          </a:xfrm>
          <a:prstGeom prst="ellipse">
            <a:avLst/>
          </a:prstGeom>
          <a:solidFill>
            <a:srgbClr val="1F3864"/>
          </a:solidFill>
          <a:ln/>
        </p:spPr>
      </p:sp>
      <p:sp>
        <p:nvSpPr>
          <p:cNvPr id="26" name="Text 24"/>
          <p:cNvSpPr/>
          <p:nvPr/>
        </p:nvSpPr>
        <p:spPr>
          <a:xfrm>
            <a:off x="6373368" y="4434840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7F9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6958584" y="4288536"/>
            <a:ext cx="4114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 model performance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640080" y="5312664"/>
            <a:ext cx="5074920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3EAF1"/>
            </a:solidFill>
            <a:prstDash val="solid"/>
          </a:ln>
          <a:effectLst>
            <a:outerShdw sx="100000" sy="100000" kx="0" ky="0" algn="bl" rotWithShape="0" blurRad="76200" dist="25400" dir="5400000">
              <a:srgbClr val="1F3864">
                <a:alpha val="8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841248" y="5550408"/>
            <a:ext cx="438912" cy="438912"/>
          </a:xfrm>
          <a:prstGeom prst="ellipse">
            <a:avLst/>
          </a:prstGeom>
          <a:solidFill>
            <a:srgbClr val="1F3864"/>
          </a:solidFill>
          <a:ln/>
        </p:spPr>
      </p:sp>
      <p:sp>
        <p:nvSpPr>
          <p:cNvPr id="30" name="Text 28"/>
          <p:cNvSpPr/>
          <p:nvPr/>
        </p:nvSpPr>
        <p:spPr>
          <a:xfrm>
            <a:off x="841248" y="5550408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7F9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1426464" y="5404104"/>
            <a:ext cx="4114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Visualize predictions using a confusion matrix and ROC curve</a:t>
            </a:r>
            <a:endParaRPr lang="en-US" sz="1250" dirty="0"/>
          </a:p>
        </p:txBody>
      </p:sp>
      <p:sp>
        <p:nvSpPr>
          <p:cNvPr id="32" name="Shape 30"/>
          <p:cNvSpPr/>
          <p:nvPr/>
        </p:nvSpPr>
        <p:spPr>
          <a:xfrm>
            <a:off x="6172200" y="5312664"/>
            <a:ext cx="5074920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3EAF1"/>
            </a:solidFill>
            <a:prstDash val="solid"/>
          </a:ln>
          <a:effectLst>
            <a:outerShdw sx="100000" sy="100000" kx="0" ky="0" algn="bl" rotWithShape="0" blurRad="76200" dist="25400" dir="5400000">
              <a:srgbClr val="1F3864">
                <a:alpha val="8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6373368" y="5550408"/>
            <a:ext cx="438912" cy="438912"/>
          </a:xfrm>
          <a:prstGeom prst="ellipse">
            <a:avLst/>
          </a:prstGeom>
          <a:solidFill>
            <a:srgbClr val="1F3864"/>
          </a:solidFill>
          <a:ln/>
        </p:spPr>
      </p:sp>
      <p:sp>
        <p:nvSpPr>
          <p:cNvPr id="34" name="Text 32"/>
          <p:cNvSpPr/>
          <p:nvPr/>
        </p:nvSpPr>
        <p:spPr>
          <a:xfrm>
            <a:off x="6373368" y="5550408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7F9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500" dirty="0"/>
          </a:p>
        </p:txBody>
      </p:sp>
      <p:sp>
        <p:nvSpPr>
          <p:cNvPr id="35" name="Text 33"/>
          <p:cNvSpPr/>
          <p:nvPr/>
        </p:nvSpPr>
        <p:spPr>
          <a:xfrm>
            <a:off x="6958584" y="5404104"/>
            <a:ext cx="4114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the better-performing model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Dataset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1078992"/>
            <a:ext cx="5486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45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Heart Disease UCI Dataset</a:t>
            </a:r>
            <a:endParaRPr lang="en-US" sz="145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Kaggle – Heart Disease UCI</a:t>
            </a:r>
            <a:endParaRPr lang="en-US" sz="1450" dirty="0"/>
          </a:p>
        </p:txBody>
      </p:sp>
      <p:sp>
        <p:nvSpPr>
          <p:cNvPr id="4" name="Shape 2"/>
          <p:cNvSpPr/>
          <p:nvPr/>
        </p:nvSpPr>
        <p:spPr>
          <a:xfrm>
            <a:off x="7406640" y="457200"/>
            <a:ext cx="1874520" cy="1170432"/>
          </a:xfrm>
          <a:prstGeom prst="roundRect">
            <a:avLst>
              <a:gd name="adj" fmla="val 7813"/>
            </a:avLst>
          </a:prstGeom>
          <a:solidFill>
            <a:srgbClr val="3B6EA5"/>
          </a:solidFill>
          <a:ln/>
        </p:spPr>
      </p:sp>
      <p:sp>
        <p:nvSpPr>
          <p:cNvPr id="5" name="Text 3"/>
          <p:cNvSpPr/>
          <p:nvPr/>
        </p:nvSpPr>
        <p:spPr>
          <a:xfrm>
            <a:off x="7406640" y="530352"/>
            <a:ext cx="1874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7F9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920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7406640" y="1005840"/>
            <a:ext cx="1874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D6E2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 Records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9555480" y="457200"/>
            <a:ext cx="1874520" cy="1170432"/>
          </a:xfrm>
          <a:prstGeom prst="roundRect">
            <a:avLst>
              <a:gd name="adj" fmla="val 7813"/>
            </a:avLst>
          </a:prstGeom>
          <a:solidFill>
            <a:srgbClr val="3B6EA5"/>
          </a:solidFill>
          <a:ln/>
        </p:spPr>
      </p:sp>
      <p:sp>
        <p:nvSpPr>
          <p:cNvPr id="8" name="Text 6"/>
          <p:cNvSpPr/>
          <p:nvPr/>
        </p:nvSpPr>
        <p:spPr>
          <a:xfrm>
            <a:off x="9555480" y="530352"/>
            <a:ext cx="1874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7F9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16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9555480" y="1005840"/>
            <a:ext cx="1874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D6E2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Original Columns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640080" y="18745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ORIGINAL COLUMNS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40080" y="2240280"/>
            <a:ext cx="1783080" cy="457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D6E2E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" y="2240280"/>
            <a:ext cx="1783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2560320" y="2240280"/>
            <a:ext cx="1783080" cy="457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D6E2E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560320" y="2240280"/>
            <a:ext cx="1783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age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4480560" y="2240280"/>
            <a:ext cx="1783080" cy="457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D6E2E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480560" y="2240280"/>
            <a:ext cx="1783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sex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640080" y="2834640"/>
            <a:ext cx="1783080" cy="457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D6E2E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0080" y="2834640"/>
            <a:ext cx="1783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dataset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2560320" y="2834640"/>
            <a:ext cx="1783080" cy="457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D6E2E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560320" y="2834640"/>
            <a:ext cx="1783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cp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4480560" y="2834640"/>
            <a:ext cx="1783080" cy="457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D6E2E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480560" y="2834640"/>
            <a:ext cx="1783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trestbps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640080" y="3429000"/>
            <a:ext cx="1783080" cy="457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D6E2E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40080" y="3429000"/>
            <a:ext cx="1783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chol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2560320" y="3429000"/>
            <a:ext cx="1783080" cy="457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D6E2E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560320" y="3429000"/>
            <a:ext cx="1783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fbs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4480560" y="3429000"/>
            <a:ext cx="1783080" cy="457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D6E2EE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480560" y="3429000"/>
            <a:ext cx="1783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restecg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640080" y="4023360"/>
            <a:ext cx="1783080" cy="457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D6E2EE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40080" y="4023360"/>
            <a:ext cx="1783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thalch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2560320" y="4023360"/>
            <a:ext cx="1783080" cy="457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D6E2E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560320" y="4023360"/>
            <a:ext cx="1783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exang</a:t>
            </a:r>
            <a:endParaRPr lang="en-US" sz="1150" dirty="0"/>
          </a:p>
        </p:txBody>
      </p:sp>
      <p:sp>
        <p:nvSpPr>
          <p:cNvPr id="33" name="Shape 31"/>
          <p:cNvSpPr/>
          <p:nvPr/>
        </p:nvSpPr>
        <p:spPr>
          <a:xfrm>
            <a:off x="4480560" y="4023360"/>
            <a:ext cx="1783080" cy="457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D6E2EE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480560" y="4023360"/>
            <a:ext cx="1783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oldpeak</a:t>
            </a:r>
            <a:endParaRPr lang="en-US" sz="1150" dirty="0"/>
          </a:p>
        </p:txBody>
      </p:sp>
      <p:sp>
        <p:nvSpPr>
          <p:cNvPr id="35" name="Shape 33"/>
          <p:cNvSpPr/>
          <p:nvPr/>
        </p:nvSpPr>
        <p:spPr>
          <a:xfrm>
            <a:off x="640080" y="4617720"/>
            <a:ext cx="1783080" cy="457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D6E2EE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40080" y="4617720"/>
            <a:ext cx="1783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slope</a:t>
            </a:r>
            <a:endParaRPr lang="en-US" sz="1150" dirty="0"/>
          </a:p>
        </p:txBody>
      </p:sp>
      <p:sp>
        <p:nvSpPr>
          <p:cNvPr id="37" name="Shape 35"/>
          <p:cNvSpPr/>
          <p:nvPr/>
        </p:nvSpPr>
        <p:spPr>
          <a:xfrm>
            <a:off x="2560320" y="4617720"/>
            <a:ext cx="1783080" cy="457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D6E2EE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2560320" y="4617720"/>
            <a:ext cx="1783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</a:t>
            </a:r>
            <a:endParaRPr lang="en-US" sz="1150" dirty="0"/>
          </a:p>
        </p:txBody>
      </p:sp>
      <p:sp>
        <p:nvSpPr>
          <p:cNvPr id="39" name="Shape 37"/>
          <p:cNvSpPr/>
          <p:nvPr/>
        </p:nvSpPr>
        <p:spPr>
          <a:xfrm>
            <a:off x="4480560" y="4617720"/>
            <a:ext cx="1783080" cy="457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D6E2EE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480560" y="4617720"/>
            <a:ext cx="1783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thal</a:t>
            </a:r>
            <a:endParaRPr lang="en-US" sz="1150" dirty="0"/>
          </a:p>
        </p:txBody>
      </p:sp>
      <p:sp>
        <p:nvSpPr>
          <p:cNvPr id="41" name="Shape 39"/>
          <p:cNvSpPr/>
          <p:nvPr/>
        </p:nvSpPr>
        <p:spPr>
          <a:xfrm>
            <a:off x="7406640" y="1874520"/>
            <a:ext cx="4160520" cy="4434840"/>
          </a:xfrm>
          <a:prstGeom prst="roundRect">
            <a:avLst>
              <a:gd name="adj" fmla="val 2637"/>
            </a:avLst>
          </a:prstGeom>
          <a:solidFill>
            <a:srgbClr val="14233D"/>
          </a:solidFill>
          <a:ln/>
        </p:spPr>
      </p:sp>
      <p:sp>
        <p:nvSpPr>
          <p:cNvPr id="42" name="Text 40"/>
          <p:cNvSpPr/>
          <p:nvPr/>
        </p:nvSpPr>
        <p:spPr>
          <a:xfrm>
            <a:off x="7726680" y="2148840"/>
            <a:ext cx="3520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C9D9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VARIABLE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7726680" y="2423160"/>
            <a:ext cx="3520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7F9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num</a:t>
            </a:r>
            <a:endParaRPr lang="en-US" sz="2400" dirty="0"/>
          </a:p>
        </p:txBody>
      </p:sp>
      <p:sp>
        <p:nvSpPr>
          <p:cNvPr id="44" name="Text 42"/>
          <p:cNvSpPr/>
          <p:nvPr/>
        </p:nvSpPr>
        <p:spPr>
          <a:xfrm>
            <a:off x="7726680" y="2971800"/>
            <a:ext cx="3520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3E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Converted into binary classification:</a:t>
            </a:r>
            <a:endParaRPr lang="en-US" sz="1200" dirty="0"/>
          </a:p>
        </p:txBody>
      </p:sp>
      <p:sp>
        <p:nvSpPr>
          <p:cNvPr id="45" name="Shape 43"/>
          <p:cNvSpPr/>
          <p:nvPr/>
        </p:nvSpPr>
        <p:spPr>
          <a:xfrm>
            <a:off x="7726680" y="3474720"/>
            <a:ext cx="352044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/>
        </p:spPr>
      </p:sp>
      <p:sp>
        <p:nvSpPr>
          <p:cNvPr id="46" name="Text 44"/>
          <p:cNvSpPr/>
          <p:nvPr/>
        </p:nvSpPr>
        <p:spPr>
          <a:xfrm>
            <a:off x="7863840" y="3474720"/>
            <a:ext cx="5486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B6EA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2600" dirty="0"/>
          </a:p>
        </p:txBody>
      </p:sp>
      <p:sp>
        <p:nvSpPr>
          <p:cNvPr id="47" name="Text 45"/>
          <p:cNvSpPr/>
          <p:nvPr/>
        </p:nvSpPr>
        <p:spPr>
          <a:xfrm>
            <a:off x="8458200" y="3474720"/>
            <a:ext cx="27889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Heart Disease</a:t>
            </a:r>
            <a:endParaRPr lang="en-US" sz="1400" dirty="0"/>
          </a:p>
        </p:txBody>
      </p:sp>
      <p:sp>
        <p:nvSpPr>
          <p:cNvPr id="48" name="Shape 46"/>
          <p:cNvSpPr/>
          <p:nvPr/>
        </p:nvSpPr>
        <p:spPr>
          <a:xfrm>
            <a:off x="7726680" y="4434840"/>
            <a:ext cx="352044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/>
        </p:spPr>
      </p:sp>
      <p:sp>
        <p:nvSpPr>
          <p:cNvPr id="49" name="Text 47"/>
          <p:cNvSpPr/>
          <p:nvPr/>
        </p:nvSpPr>
        <p:spPr>
          <a:xfrm>
            <a:off x="7863840" y="4434840"/>
            <a:ext cx="5486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8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600" dirty="0"/>
          </a:p>
        </p:txBody>
      </p:sp>
      <p:sp>
        <p:nvSpPr>
          <p:cNvPr id="50" name="Text 48"/>
          <p:cNvSpPr/>
          <p:nvPr/>
        </p:nvSpPr>
        <p:spPr>
          <a:xfrm>
            <a:off x="8458200" y="4434840"/>
            <a:ext cx="27889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Heart Disease</a:t>
            </a:r>
            <a:endParaRPr lang="en-US" sz="1400" dirty="0"/>
          </a:p>
        </p:txBody>
      </p:sp>
      <p:sp>
        <p:nvSpPr>
          <p:cNvPr id="51" name="Text 49"/>
          <p:cNvSpPr/>
          <p:nvPr/>
        </p:nvSpPr>
        <p:spPr>
          <a:xfrm>
            <a:off x="7726680" y="5394960"/>
            <a:ext cx="3520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i="1" dirty="0">
                <a:solidFill>
                  <a:srgbClr val="D3E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Original values 1–4 (varying severity) were collapsed into class 1.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9144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Preprocessing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1078992"/>
            <a:ext cx="10607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following preprocessing steps were performed on the dataset before training.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5074920" cy="2148840"/>
          </a:xfrm>
          <a:prstGeom prst="roundRect">
            <a:avLst>
              <a:gd name="adj" fmla="val 4255"/>
            </a:avLst>
          </a:prstGeom>
          <a:solidFill>
            <a:srgbClr val="FFFFFF"/>
          </a:solidFill>
          <a:ln w="12700">
            <a:solidFill>
              <a:srgbClr val="E3EAF1"/>
            </a:solidFill>
            <a:prstDash val="solid"/>
          </a:ln>
          <a:effectLst>
            <a:outerShdw sx="100000" sy="100000" kx="0" ky="0" algn="bl" rotWithShape="0" blurRad="76200" dist="25400" dir="5400000">
              <a:srgbClr val="1F3864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96112" y="1947672"/>
            <a:ext cx="457200" cy="457200"/>
          </a:xfrm>
          <a:prstGeom prst="ellipse">
            <a:avLst/>
          </a:prstGeom>
          <a:solidFill>
            <a:srgbClr val="1F3864"/>
          </a:solidFill>
          <a:ln/>
        </p:spPr>
      </p:sp>
      <p:sp>
        <p:nvSpPr>
          <p:cNvPr id="6" name="Text 4"/>
          <p:cNvSpPr/>
          <p:nvPr/>
        </p:nvSpPr>
        <p:spPr>
          <a:xfrm>
            <a:off x="896112" y="194767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7F9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508760" y="1965960"/>
            <a:ext cx="3977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 Unnecessary Columns</a:t>
            </a:r>
            <a:endParaRPr lang="en-US" sz="1550" dirty="0"/>
          </a:p>
        </p:txBody>
      </p:sp>
      <p:sp>
        <p:nvSpPr>
          <p:cNvPr id="8" name="Text 6"/>
          <p:cNvSpPr/>
          <p:nvPr/>
        </p:nvSpPr>
        <p:spPr>
          <a:xfrm>
            <a:off x="960120" y="2560320"/>
            <a:ext cx="443484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500"/>
              </a:lnSpc>
              <a:spcAft>
                <a:spcPts val="600"/>
              </a:spcAft>
              <a:buNone/>
            </a:pPr>
            <a:r>
              <a:rPr lang="en-US" sz="12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 and dataset were removed because they were not useful for prediction.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172200" y="1691640"/>
            <a:ext cx="5074920" cy="2148840"/>
          </a:xfrm>
          <a:prstGeom prst="roundRect">
            <a:avLst>
              <a:gd name="adj" fmla="val 4255"/>
            </a:avLst>
          </a:prstGeom>
          <a:solidFill>
            <a:srgbClr val="FFFFFF"/>
          </a:solidFill>
          <a:ln w="12700">
            <a:solidFill>
              <a:srgbClr val="E3EAF1"/>
            </a:solidFill>
            <a:prstDash val="solid"/>
          </a:ln>
          <a:effectLst>
            <a:outerShdw sx="100000" sy="100000" kx="0" ky="0" algn="bl" rotWithShape="0" blurRad="76200" dist="25400" dir="5400000">
              <a:srgbClr val="1F3864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428232" y="1947672"/>
            <a:ext cx="457200" cy="457200"/>
          </a:xfrm>
          <a:prstGeom prst="ellipse">
            <a:avLst/>
          </a:prstGeom>
          <a:solidFill>
            <a:srgbClr val="1F3864"/>
          </a:solidFill>
          <a:ln/>
        </p:spPr>
      </p:sp>
      <p:sp>
        <p:nvSpPr>
          <p:cNvPr id="11" name="Text 9"/>
          <p:cNvSpPr/>
          <p:nvPr/>
        </p:nvSpPr>
        <p:spPr>
          <a:xfrm>
            <a:off x="6428232" y="194767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7F9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7040880" y="1965960"/>
            <a:ext cx="3977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 Missing Values</a:t>
            </a:r>
            <a:endParaRPr lang="en-US" sz="1550" dirty="0"/>
          </a:p>
        </p:txBody>
      </p:sp>
      <p:sp>
        <p:nvSpPr>
          <p:cNvPr id="13" name="Text 11"/>
          <p:cNvSpPr/>
          <p:nvPr/>
        </p:nvSpPr>
        <p:spPr>
          <a:xfrm>
            <a:off x="6492240" y="2560320"/>
            <a:ext cx="443484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52400" indent="-152400">
              <a:lnSpc>
                <a:spcPts val="1500"/>
              </a:lnSpc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Numerical features → Median imputation</a:t>
            </a:r>
            <a:endParaRPr lang="en-US" sz="1200" dirty="0"/>
          </a:p>
          <a:p>
            <a:pPr marL="152400" indent="-152400">
              <a:lnSpc>
                <a:spcPts val="1500"/>
              </a:lnSpc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Categorical features → Mode imputation</a:t>
            </a:r>
            <a:endParaRPr lang="en-US" sz="1200" dirty="0"/>
          </a:p>
          <a:p>
            <a:pPr marL="152400" indent="-152400">
              <a:lnSpc>
                <a:spcPts val="1500"/>
              </a:lnSpc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 was retained and its missing values were handled using median imputation.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40080" y="4160520"/>
            <a:ext cx="5074920" cy="2148840"/>
          </a:xfrm>
          <a:prstGeom prst="roundRect">
            <a:avLst>
              <a:gd name="adj" fmla="val 4255"/>
            </a:avLst>
          </a:prstGeom>
          <a:solidFill>
            <a:srgbClr val="FFFFFF"/>
          </a:solidFill>
          <a:ln w="12700">
            <a:solidFill>
              <a:srgbClr val="E3EAF1"/>
            </a:solidFill>
            <a:prstDash val="solid"/>
          </a:ln>
          <a:effectLst>
            <a:outerShdw sx="100000" sy="100000" kx="0" ky="0" algn="bl" rotWithShape="0" blurRad="76200" dist="25400" dir="5400000">
              <a:srgbClr val="1F3864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96112" y="4416552"/>
            <a:ext cx="457200" cy="457200"/>
          </a:xfrm>
          <a:prstGeom prst="ellipse">
            <a:avLst/>
          </a:prstGeom>
          <a:solidFill>
            <a:srgbClr val="1F3864"/>
          </a:solidFill>
          <a:ln/>
        </p:spPr>
      </p:sp>
      <p:sp>
        <p:nvSpPr>
          <p:cNvPr id="16" name="Text 14"/>
          <p:cNvSpPr/>
          <p:nvPr/>
        </p:nvSpPr>
        <p:spPr>
          <a:xfrm>
            <a:off x="896112" y="441655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7F9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508760" y="4434840"/>
            <a:ext cx="3977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Encode Categorical Features</a:t>
            </a:r>
            <a:endParaRPr lang="en-US" sz="1550" dirty="0"/>
          </a:p>
        </p:txBody>
      </p:sp>
      <p:sp>
        <p:nvSpPr>
          <p:cNvPr id="18" name="Text 16"/>
          <p:cNvSpPr/>
          <p:nvPr/>
        </p:nvSpPr>
        <p:spPr>
          <a:xfrm>
            <a:off x="960120" y="5029200"/>
            <a:ext cx="443484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500"/>
              </a:lnSpc>
              <a:spcAft>
                <a:spcPts val="600"/>
              </a:spcAft>
              <a:buNone/>
            </a:pPr>
            <a:r>
              <a:rPr lang="en-US" sz="12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One-hot encoding was applied using pd.get_dummies()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172200" y="4160520"/>
            <a:ext cx="5074920" cy="2148840"/>
          </a:xfrm>
          <a:prstGeom prst="roundRect">
            <a:avLst>
              <a:gd name="adj" fmla="val 4255"/>
            </a:avLst>
          </a:prstGeom>
          <a:solidFill>
            <a:srgbClr val="FFFFFF"/>
          </a:solidFill>
          <a:ln w="12700">
            <a:solidFill>
              <a:srgbClr val="E3EAF1"/>
            </a:solidFill>
            <a:prstDash val="solid"/>
          </a:ln>
          <a:effectLst>
            <a:outerShdw sx="100000" sy="100000" kx="0" ky="0" algn="bl" rotWithShape="0" blurRad="76200" dist="25400" dir="5400000">
              <a:srgbClr val="1F3864">
                <a:alpha val="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428232" y="4416552"/>
            <a:ext cx="457200" cy="457200"/>
          </a:xfrm>
          <a:prstGeom prst="ellipse">
            <a:avLst/>
          </a:prstGeom>
          <a:solidFill>
            <a:srgbClr val="1F3864"/>
          </a:solidFill>
          <a:ln/>
        </p:spPr>
      </p:sp>
      <p:sp>
        <p:nvSpPr>
          <p:cNvPr id="21" name="Text 19"/>
          <p:cNvSpPr/>
          <p:nvPr/>
        </p:nvSpPr>
        <p:spPr>
          <a:xfrm>
            <a:off x="6428232" y="441655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7F9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7040880" y="4434840"/>
            <a:ext cx="3977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Scaling</a:t>
            </a:r>
            <a:endParaRPr lang="en-US" sz="1550" dirty="0"/>
          </a:p>
        </p:txBody>
      </p:sp>
      <p:sp>
        <p:nvSpPr>
          <p:cNvPr id="23" name="Text 21"/>
          <p:cNvSpPr/>
          <p:nvPr/>
        </p:nvSpPr>
        <p:spPr>
          <a:xfrm>
            <a:off x="6492240" y="5029200"/>
            <a:ext cx="443484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500"/>
              </a:lnSpc>
              <a:spcAft>
                <a:spcPts val="600"/>
              </a:spcAft>
              <a:buNone/>
            </a:pPr>
            <a:r>
              <a:rPr lang="en-US" sz="12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StandardScaler was applied before training Logistic Regression.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423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9144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7F9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Machine Learning Pipeline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708660" y="1005840"/>
            <a:ext cx="3246120" cy="365760"/>
          </a:xfrm>
          <a:prstGeom prst="roundRect">
            <a:avLst>
              <a:gd name="adj" fmla="val 15000"/>
            </a:avLst>
          </a:prstGeom>
          <a:solidFill>
            <a:srgbClr val="3B6EA5"/>
          </a:solidFill>
          <a:ln/>
        </p:spPr>
      </p:sp>
      <p:sp>
        <p:nvSpPr>
          <p:cNvPr id="4" name="Text 2"/>
          <p:cNvSpPr/>
          <p:nvPr/>
        </p:nvSpPr>
        <p:spPr>
          <a:xfrm>
            <a:off x="708660" y="1005840"/>
            <a:ext cx="3246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7F9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Heart Disease Dataset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331720" y="1371600"/>
            <a:ext cx="0" cy="118872"/>
          </a:xfrm>
          <a:prstGeom prst="line">
            <a:avLst/>
          </a:prstGeom>
          <a:noFill/>
          <a:ln w="19050">
            <a:solidFill>
              <a:srgbClr val="D3E0EC"/>
            </a:solidFill>
            <a:prstDash val="solid"/>
            <a:tailEnd type="triangle"/>
          </a:ln>
        </p:spPr>
      </p:sp>
      <p:sp>
        <p:nvSpPr>
          <p:cNvPr id="6" name="Shape 4"/>
          <p:cNvSpPr/>
          <p:nvPr/>
        </p:nvSpPr>
        <p:spPr>
          <a:xfrm>
            <a:off x="708660" y="1490472"/>
            <a:ext cx="3246120" cy="36576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/>
        </p:spPr>
      </p:sp>
      <p:sp>
        <p:nvSpPr>
          <p:cNvPr id="7" name="Text 5"/>
          <p:cNvSpPr/>
          <p:nvPr/>
        </p:nvSpPr>
        <p:spPr>
          <a:xfrm>
            <a:off x="708660" y="1490472"/>
            <a:ext cx="3246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Cleaning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331720" y="1856232"/>
            <a:ext cx="0" cy="118872"/>
          </a:xfrm>
          <a:prstGeom prst="line">
            <a:avLst/>
          </a:prstGeom>
          <a:noFill/>
          <a:ln w="19050">
            <a:solidFill>
              <a:srgbClr val="D3E0EC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708660" y="1975104"/>
            <a:ext cx="3246120" cy="36576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/>
        </p:spPr>
      </p:sp>
      <p:sp>
        <p:nvSpPr>
          <p:cNvPr id="10" name="Text 8"/>
          <p:cNvSpPr/>
          <p:nvPr/>
        </p:nvSpPr>
        <p:spPr>
          <a:xfrm>
            <a:off x="708660" y="1975104"/>
            <a:ext cx="3246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Value Handling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331720" y="2340864"/>
            <a:ext cx="0" cy="118872"/>
          </a:xfrm>
          <a:prstGeom prst="line">
            <a:avLst/>
          </a:prstGeom>
          <a:noFill/>
          <a:ln w="19050">
            <a:solidFill>
              <a:srgbClr val="D3E0EC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708660" y="2459736"/>
            <a:ext cx="3246120" cy="36576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/>
        </p:spPr>
      </p:sp>
      <p:sp>
        <p:nvSpPr>
          <p:cNvPr id="13" name="Text 11"/>
          <p:cNvSpPr/>
          <p:nvPr/>
        </p:nvSpPr>
        <p:spPr>
          <a:xfrm>
            <a:off x="708660" y="2459736"/>
            <a:ext cx="3246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Encoding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2331720" y="2825496"/>
            <a:ext cx="0" cy="118872"/>
          </a:xfrm>
          <a:prstGeom prst="line">
            <a:avLst/>
          </a:prstGeom>
          <a:noFill/>
          <a:ln w="19050">
            <a:solidFill>
              <a:srgbClr val="D3E0EC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708660" y="2944368"/>
            <a:ext cx="3246120" cy="36576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/>
        </p:spPr>
      </p:sp>
      <p:sp>
        <p:nvSpPr>
          <p:cNvPr id="16" name="Text 14"/>
          <p:cNvSpPr/>
          <p:nvPr/>
        </p:nvSpPr>
        <p:spPr>
          <a:xfrm>
            <a:off x="708660" y="2944368"/>
            <a:ext cx="3246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/ Test Split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2331720" y="3310128"/>
            <a:ext cx="0" cy="118872"/>
          </a:xfrm>
          <a:prstGeom prst="line">
            <a:avLst/>
          </a:prstGeom>
          <a:noFill/>
          <a:ln w="19050">
            <a:solidFill>
              <a:srgbClr val="D3E0EC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708660" y="3429000"/>
            <a:ext cx="3246120" cy="36576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/>
        </p:spPr>
      </p:sp>
      <p:sp>
        <p:nvSpPr>
          <p:cNvPr id="19" name="Text 17"/>
          <p:cNvSpPr/>
          <p:nvPr/>
        </p:nvSpPr>
        <p:spPr>
          <a:xfrm>
            <a:off x="708660" y="3429000"/>
            <a:ext cx="3246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Scaling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954780" y="3611880"/>
            <a:ext cx="4183380" cy="0"/>
          </a:xfrm>
          <a:prstGeom prst="line">
            <a:avLst/>
          </a:prstGeom>
          <a:noFill/>
          <a:ln w="19050">
            <a:solidFill>
              <a:srgbClr val="D3E0E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138160" y="3611880"/>
            <a:ext cx="0" cy="914"/>
          </a:xfrm>
          <a:prstGeom prst="line">
            <a:avLst/>
          </a:prstGeom>
          <a:noFill/>
          <a:ln w="19050">
            <a:solidFill>
              <a:srgbClr val="D3E0E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172200" y="3611880"/>
            <a:ext cx="3931920" cy="0"/>
          </a:xfrm>
          <a:prstGeom prst="line">
            <a:avLst/>
          </a:prstGeom>
          <a:noFill/>
          <a:ln w="19050">
            <a:solidFill>
              <a:srgbClr val="D3E0EC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172200" y="3611880"/>
            <a:ext cx="0" cy="118872"/>
          </a:xfrm>
          <a:prstGeom prst="line">
            <a:avLst/>
          </a:prstGeom>
          <a:noFill/>
          <a:ln w="19050">
            <a:solidFill>
              <a:srgbClr val="D3E0EC"/>
            </a:solidFill>
            <a:prstDash val="solid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10104120" y="3611880"/>
            <a:ext cx="0" cy="118872"/>
          </a:xfrm>
          <a:prstGeom prst="line">
            <a:avLst/>
          </a:prstGeom>
          <a:noFill/>
          <a:ln w="19050">
            <a:solidFill>
              <a:srgbClr val="D3E0EC"/>
            </a:solidFill>
            <a:prstDash val="solid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4914900" y="3730752"/>
            <a:ext cx="2514600" cy="365760"/>
          </a:xfrm>
          <a:prstGeom prst="roundRect">
            <a:avLst>
              <a:gd name="adj" fmla="val 15000"/>
            </a:avLst>
          </a:prstGeom>
          <a:solidFill>
            <a:srgbClr val="3B6EA5"/>
          </a:solidFill>
          <a:ln/>
        </p:spPr>
      </p:sp>
      <p:sp>
        <p:nvSpPr>
          <p:cNvPr id="26" name="Text 24"/>
          <p:cNvSpPr/>
          <p:nvPr/>
        </p:nvSpPr>
        <p:spPr>
          <a:xfrm>
            <a:off x="4914900" y="3730752"/>
            <a:ext cx="2514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7F9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 Regression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8846820" y="3730752"/>
            <a:ext cx="2514600" cy="365760"/>
          </a:xfrm>
          <a:prstGeom prst="roundRect">
            <a:avLst>
              <a:gd name="adj" fmla="val 15000"/>
            </a:avLst>
          </a:prstGeom>
          <a:solidFill>
            <a:srgbClr val="3B6EA5"/>
          </a:solidFill>
          <a:ln/>
        </p:spPr>
      </p:sp>
      <p:sp>
        <p:nvSpPr>
          <p:cNvPr id="28" name="Text 26"/>
          <p:cNvSpPr/>
          <p:nvPr/>
        </p:nvSpPr>
        <p:spPr>
          <a:xfrm>
            <a:off x="8846820" y="3730752"/>
            <a:ext cx="2514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7F9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Tree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6172200" y="4096512"/>
            <a:ext cx="0" cy="118872"/>
          </a:xfrm>
          <a:prstGeom prst="line">
            <a:avLst/>
          </a:prstGeom>
          <a:noFill/>
          <a:ln w="19050">
            <a:solidFill>
              <a:srgbClr val="D3E0EC"/>
            </a:solidFill>
            <a:prstDash val="solid"/>
            <a:tailEnd type="triangle"/>
          </a:ln>
        </p:spPr>
      </p:sp>
      <p:sp>
        <p:nvSpPr>
          <p:cNvPr id="30" name="Shape 28"/>
          <p:cNvSpPr/>
          <p:nvPr/>
        </p:nvSpPr>
        <p:spPr>
          <a:xfrm>
            <a:off x="10104120" y="4096512"/>
            <a:ext cx="0" cy="118872"/>
          </a:xfrm>
          <a:prstGeom prst="line">
            <a:avLst/>
          </a:prstGeom>
          <a:noFill/>
          <a:ln w="19050">
            <a:solidFill>
              <a:srgbClr val="D3E0EC"/>
            </a:solidFill>
            <a:prstDash val="solid"/>
            <a:tailEnd type="triangle"/>
          </a:ln>
        </p:spPr>
      </p:sp>
      <p:sp>
        <p:nvSpPr>
          <p:cNvPr id="31" name="Shape 29"/>
          <p:cNvSpPr/>
          <p:nvPr/>
        </p:nvSpPr>
        <p:spPr>
          <a:xfrm>
            <a:off x="5257800" y="4215384"/>
            <a:ext cx="1828800" cy="36576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/>
        </p:spPr>
      </p:sp>
      <p:sp>
        <p:nvSpPr>
          <p:cNvPr id="32" name="Text 30"/>
          <p:cNvSpPr/>
          <p:nvPr/>
        </p:nvSpPr>
        <p:spPr>
          <a:xfrm>
            <a:off x="5257800" y="4215384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Predictions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9189720" y="4215384"/>
            <a:ext cx="1828800" cy="36576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/>
        </p:spPr>
      </p:sp>
      <p:sp>
        <p:nvSpPr>
          <p:cNvPr id="34" name="Text 32"/>
          <p:cNvSpPr/>
          <p:nvPr/>
        </p:nvSpPr>
        <p:spPr>
          <a:xfrm>
            <a:off x="9189720" y="4215384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Predictions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6172200" y="4581144"/>
            <a:ext cx="0" cy="118872"/>
          </a:xfrm>
          <a:prstGeom prst="line">
            <a:avLst/>
          </a:prstGeom>
          <a:noFill/>
          <a:ln w="19050">
            <a:solidFill>
              <a:srgbClr val="D3E0EC"/>
            </a:solidFill>
            <a:prstDash val="solid"/>
            <a:tailEnd type="triangle"/>
          </a:ln>
        </p:spPr>
      </p:sp>
      <p:sp>
        <p:nvSpPr>
          <p:cNvPr id="36" name="Shape 34"/>
          <p:cNvSpPr/>
          <p:nvPr/>
        </p:nvSpPr>
        <p:spPr>
          <a:xfrm>
            <a:off x="10104120" y="4581144"/>
            <a:ext cx="0" cy="118872"/>
          </a:xfrm>
          <a:prstGeom prst="line">
            <a:avLst/>
          </a:prstGeom>
          <a:noFill/>
          <a:ln w="19050">
            <a:solidFill>
              <a:srgbClr val="D3E0EC"/>
            </a:solidFill>
            <a:prstDash val="solid"/>
            <a:tailEnd type="triangle"/>
          </a:ln>
        </p:spPr>
      </p:sp>
      <p:sp>
        <p:nvSpPr>
          <p:cNvPr id="37" name="Shape 35"/>
          <p:cNvSpPr/>
          <p:nvPr/>
        </p:nvSpPr>
        <p:spPr>
          <a:xfrm>
            <a:off x="6172200" y="4700016"/>
            <a:ext cx="3931920" cy="0"/>
          </a:xfrm>
          <a:prstGeom prst="line">
            <a:avLst/>
          </a:prstGeom>
          <a:noFill/>
          <a:ln w="19050">
            <a:solidFill>
              <a:srgbClr val="D3E0EC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8138160" y="4700016"/>
            <a:ext cx="0" cy="118872"/>
          </a:xfrm>
          <a:prstGeom prst="line">
            <a:avLst/>
          </a:prstGeom>
          <a:noFill/>
          <a:ln w="19050">
            <a:solidFill>
              <a:srgbClr val="D3E0EC"/>
            </a:solidFill>
            <a:prstDash val="solid"/>
            <a:tailEnd type="triangle"/>
          </a:ln>
        </p:spPr>
      </p:sp>
      <p:sp>
        <p:nvSpPr>
          <p:cNvPr id="39" name="Shape 37"/>
          <p:cNvSpPr/>
          <p:nvPr/>
        </p:nvSpPr>
        <p:spPr>
          <a:xfrm>
            <a:off x="6149340" y="4818888"/>
            <a:ext cx="3977640" cy="36576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/>
        </p:spPr>
      </p:sp>
      <p:sp>
        <p:nvSpPr>
          <p:cNvPr id="40" name="Text 38"/>
          <p:cNvSpPr/>
          <p:nvPr/>
        </p:nvSpPr>
        <p:spPr>
          <a:xfrm>
            <a:off x="6149340" y="4818888"/>
            <a:ext cx="3977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Evaluation</a:t>
            </a:r>
            <a:endParaRPr lang="en-US" sz="1150" dirty="0"/>
          </a:p>
        </p:txBody>
      </p:sp>
      <p:sp>
        <p:nvSpPr>
          <p:cNvPr id="41" name="Shape 39"/>
          <p:cNvSpPr/>
          <p:nvPr/>
        </p:nvSpPr>
        <p:spPr>
          <a:xfrm>
            <a:off x="8138160" y="5184648"/>
            <a:ext cx="0" cy="118872"/>
          </a:xfrm>
          <a:prstGeom prst="line">
            <a:avLst/>
          </a:prstGeom>
          <a:noFill/>
          <a:ln w="19050">
            <a:solidFill>
              <a:srgbClr val="D3E0EC"/>
            </a:solidFill>
            <a:prstDash val="solid"/>
            <a:tailEnd type="triangle"/>
          </a:ln>
        </p:spPr>
      </p:sp>
      <p:sp>
        <p:nvSpPr>
          <p:cNvPr id="42" name="Shape 40"/>
          <p:cNvSpPr/>
          <p:nvPr/>
        </p:nvSpPr>
        <p:spPr>
          <a:xfrm>
            <a:off x="6149340" y="5303520"/>
            <a:ext cx="3977640" cy="36576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/>
        </p:spPr>
      </p:sp>
      <p:sp>
        <p:nvSpPr>
          <p:cNvPr id="43" name="Text 41"/>
          <p:cNvSpPr/>
          <p:nvPr/>
        </p:nvSpPr>
        <p:spPr>
          <a:xfrm>
            <a:off x="6149340" y="5303520"/>
            <a:ext cx="3977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  •  Precision  •  Recall</a:t>
            </a:r>
            <a:endParaRPr lang="en-US" sz="1150" dirty="0"/>
          </a:p>
        </p:txBody>
      </p:sp>
      <p:sp>
        <p:nvSpPr>
          <p:cNvPr id="44" name="Shape 42"/>
          <p:cNvSpPr/>
          <p:nvPr/>
        </p:nvSpPr>
        <p:spPr>
          <a:xfrm>
            <a:off x="8138160" y="5669280"/>
            <a:ext cx="0" cy="118872"/>
          </a:xfrm>
          <a:prstGeom prst="line">
            <a:avLst/>
          </a:prstGeom>
          <a:noFill/>
          <a:ln w="19050">
            <a:solidFill>
              <a:srgbClr val="D3E0EC"/>
            </a:solidFill>
            <a:prstDash val="solid"/>
            <a:tailEnd type="triangle"/>
          </a:ln>
        </p:spPr>
      </p:sp>
      <p:sp>
        <p:nvSpPr>
          <p:cNvPr id="45" name="Shape 43"/>
          <p:cNvSpPr/>
          <p:nvPr/>
        </p:nvSpPr>
        <p:spPr>
          <a:xfrm>
            <a:off x="6149340" y="5788152"/>
            <a:ext cx="3977640" cy="36576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/>
        </p:spPr>
      </p:sp>
      <p:sp>
        <p:nvSpPr>
          <p:cNvPr id="46" name="Text 44"/>
          <p:cNvSpPr/>
          <p:nvPr/>
        </p:nvSpPr>
        <p:spPr>
          <a:xfrm>
            <a:off x="6149340" y="5788152"/>
            <a:ext cx="3977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Confusion Matrix  •  ROC Curve</a:t>
            </a:r>
            <a:endParaRPr lang="en-US" sz="1150" dirty="0"/>
          </a:p>
        </p:txBody>
      </p:sp>
      <p:sp>
        <p:nvSpPr>
          <p:cNvPr id="47" name="Shape 45"/>
          <p:cNvSpPr/>
          <p:nvPr/>
        </p:nvSpPr>
        <p:spPr>
          <a:xfrm>
            <a:off x="8138160" y="6153912"/>
            <a:ext cx="0" cy="118872"/>
          </a:xfrm>
          <a:prstGeom prst="line">
            <a:avLst/>
          </a:prstGeom>
          <a:noFill/>
          <a:ln w="19050">
            <a:solidFill>
              <a:srgbClr val="D3E0EC"/>
            </a:solidFill>
            <a:prstDash val="solid"/>
            <a:tailEnd type="triangle"/>
          </a:ln>
        </p:spPr>
      </p:sp>
      <p:sp>
        <p:nvSpPr>
          <p:cNvPr id="48" name="Shape 46"/>
          <p:cNvSpPr/>
          <p:nvPr/>
        </p:nvSpPr>
        <p:spPr>
          <a:xfrm>
            <a:off x="6149340" y="6272784"/>
            <a:ext cx="3977640" cy="365760"/>
          </a:xfrm>
          <a:prstGeom prst="roundRect">
            <a:avLst>
              <a:gd name="adj" fmla="val 15000"/>
            </a:avLst>
          </a:prstGeom>
          <a:solidFill>
            <a:srgbClr val="1F3864"/>
          </a:solidFill>
          <a:ln/>
        </p:spPr>
      </p:sp>
      <p:sp>
        <p:nvSpPr>
          <p:cNvPr id="49" name="Text 47"/>
          <p:cNvSpPr/>
          <p:nvPr/>
        </p:nvSpPr>
        <p:spPr>
          <a:xfrm>
            <a:off x="6149340" y="6272784"/>
            <a:ext cx="3977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7F9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Model Selection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9144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Models Used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40080" y="1325880"/>
            <a:ext cx="5257800" cy="3703320"/>
          </a:xfrm>
          <a:prstGeom prst="roundRect">
            <a:avLst>
              <a:gd name="adj" fmla="val 2963"/>
            </a:avLst>
          </a:prstGeom>
          <a:solidFill>
            <a:srgbClr val="FFFFFF"/>
          </a:solidFill>
          <a:ln w="12700">
            <a:solidFill>
              <a:srgbClr val="E3EAF1"/>
            </a:solidFill>
            <a:prstDash val="solid"/>
          </a:ln>
          <a:effectLst>
            <a:outerShdw sx="100000" sy="100000" kx="0" ky="0" algn="bl" rotWithShape="0" blurRad="76200" dist="25400" dir="5400000">
              <a:srgbClr val="1F3864">
                <a:alpha val="8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640080" y="1325880"/>
            <a:ext cx="5257800" cy="868680"/>
          </a:xfrm>
          <a:prstGeom prst="roundRect">
            <a:avLst>
              <a:gd name="adj" fmla="val 12632"/>
            </a:avLst>
          </a:prstGeom>
          <a:solidFill>
            <a:srgbClr val="3B6EA5"/>
          </a:solidFill>
          <a:ln/>
        </p:spPr>
      </p:sp>
      <p:sp>
        <p:nvSpPr>
          <p:cNvPr id="5" name="Shape 3"/>
          <p:cNvSpPr/>
          <p:nvPr/>
        </p:nvSpPr>
        <p:spPr>
          <a:xfrm>
            <a:off x="640080" y="1783080"/>
            <a:ext cx="5257800" cy="411480"/>
          </a:xfrm>
          <a:prstGeom prst="rect">
            <a:avLst/>
          </a:prstGeom>
          <a:solidFill>
            <a:srgbClr val="3B6EA5"/>
          </a:solidFill>
          <a:ln/>
        </p:spPr>
      </p:sp>
      <p:sp>
        <p:nvSpPr>
          <p:cNvPr id="6" name="Text 4"/>
          <p:cNvSpPr/>
          <p:nvPr/>
        </p:nvSpPr>
        <p:spPr>
          <a:xfrm>
            <a:off x="960120" y="1325880"/>
            <a:ext cx="46177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7F9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Logistic Regression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005840" y="2468880"/>
            <a:ext cx="4526280" cy="2331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ts val="1900"/>
              </a:lnSpc>
              <a:spcAft>
                <a:spcPts val="1400"/>
              </a:spcAft>
              <a:buSzPct val="100000"/>
              <a:buChar char="•"/>
            </a:pPr>
            <a:r>
              <a:rPr lang="en-US" sz="1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as a classification model.</a:t>
            </a:r>
            <a:endParaRPr lang="en-US" sz="1400" dirty="0"/>
          </a:p>
          <a:p>
            <a:pPr marL="177800" indent="-177800">
              <a:lnSpc>
                <a:spcPts val="1900"/>
              </a:lnSpc>
              <a:spcAft>
                <a:spcPts val="1400"/>
              </a:spcAft>
              <a:buSzPct val="100000"/>
              <a:buChar char="•"/>
            </a:pPr>
            <a:r>
              <a:rPr lang="en-US" sz="1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Predicts the probability of heart disease.</a:t>
            </a:r>
            <a:endParaRPr lang="en-US" sz="1400" dirty="0"/>
          </a:p>
          <a:p>
            <a:pPr marL="177800" indent="-177800">
              <a:lnSpc>
                <a:spcPts val="1900"/>
              </a:lnSpc>
              <a:spcAft>
                <a:spcPts val="1400"/>
              </a:spcAft>
              <a:buSzPct val="100000"/>
              <a:buChar char="•"/>
            </a:pPr>
            <a:r>
              <a:rPr lang="en-US" sz="1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scaling was applied before training.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309360" y="1325880"/>
            <a:ext cx="5257800" cy="3703320"/>
          </a:xfrm>
          <a:prstGeom prst="roundRect">
            <a:avLst>
              <a:gd name="adj" fmla="val 2963"/>
            </a:avLst>
          </a:prstGeom>
          <a:solidFill>
            <a:srgbClr val="FFFFFF"/>
          </a:solidFill>
          <a:ln w="12700">
            <a:solidFill>
              <a:srgbClr val="E3EAF1"/>
            </a:solidFill>
            <a:prstDash val="solid"/>
          </a:ln>
          <a:effectLst>
            <a:outerShdw sx="100000" sy="100000" kx="0" ky="0" algn="bl" rotWithShape="0" blurRad="76200" dist="25400" dir="5400000">
              <a:srgbClr val="1F3864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309360" y="1325880"/>
            <a:ext cx="5257800" cy="868680"/>
          </a:xfrm>
          <a:prstGeom prst="roundRect">
            <a:avLst>
              <a:gd name="adj" fmla="val 12632"/>
            </a:avLst>
          </a:prstGeom>
          <a:solidFill>
            <a:srgbClr val="1F3864"/>
          </a:solidFill>
          <a:ln/>
        </p:spPr>
      </p:sp>
      <p:sp>
        <p:nvSpPr>
          <p:cNvPr id="10" name="Shape 8"/>
          <p:cNvSpPr/>
          <p:nvPr/>
        </p:nvSpPr>
        <p:spPr>
          <a:xfrm>
            <a:off x="6309360" y="1783080"/>
            <a:ext cx="5257800" cy="411480"/>
          </a:xfrm>
          <a:prstGeom prst="rect">
            <a:avLst/>
          </a:prstGeom>
          <a:solidFill>
            <a:srgbClr val="1F3864"/>
          </a:solidFill>
          <a:ln/>
        </p:spPr>
      </p:sp>
      <p:sp>
        <p:nvSpPr>
          <p:cNvPr id="11" name="Text 9"/>
          <p:cNvSpPr/>
          <p:nvPr/>
        </p:nvSpPr>
        <p:spPr>
          <a:xfrm>
            <a:off x="6629400" y="1325880"/>
            <a:ext cx="46177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7F9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Decision Tree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6675120" y="2468880"/>
            <a:ext cx="4526280" cy="2331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ts val="1900"/>
              </a:lnSpc>
              <a:spcAft>
                <a:spcPts val="1400"/>
              </a:spcAft>
              <a:buSzPct val="100000"/>
              <a:buChar char="•"/>
            </a:pPr>
            <a:r>
              <a:rPr lang="en-US" sz="1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Uses decision rules to classify patients.</a:t>
            </a:r>
            <a:endParaRPr lang="en-US" sz="1400" dirty="0"/>
          </a:p>
          <a:p>
            <a:pPr marL="177800" indent="-177800">
              <a:lnSpc>
                <a:spcPts val="1900"/>
              </a:lnSpc>
              <a:spcAft>
                <a:spcPts val="1400"/>
              </a:spcAft>
              <a:buSzPct val="100000"/>
              <a:buChar char="•"/>
            </a:pPr>
            <a:r>
              <a:rPr lang="en-US" sz="1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capture non-linear relationships.</a:t>
            </a:r>
            <a:endParaRPr lang="en-US" sz="1400" dirty="0"/>
          </a:p>
          <a:p>
            <a:pPr marL="177800" indent="-177800">
              <a:lnSpc>
                <a:spcPts val="1900"/>
              </a:lnSpc>
              <a:spcAft>
                <a:spcPts val="1400"/>
              </a:spcAft>
              <a:buSzPct val="100000"/>
              <a:buChar char="•"/>
            </a:pPr>
            <a:r>
              <a:rPr lang="en-US" sz="1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not require feature scaling.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40080" y="5303520"/>
            <a:ext cx="10927080" cy="777240"/>
          </a:xfrm>
          <a:prstGeom prst="roundRect">
            <a:avLst>
              <a:gd name="adj" fmla="val 11765"/>
            </a:avLst>
          </a:prstGeom>
          <a:solidFill>
            <a:srgbClr val="14233D"/>
          </a:solidFill>
          <a:ln/>
        </p:spPr>
      </p:sp>
      <p:sp>
        <p:nvSpPr>
          <p:cNvPr id="14" name="Text 12"/>
          <p:cNvSpPr/>
          <p:nvPr/>
        </p:nvSpPr>
        <p:spPr>
          <a:xfrm>
            <a:off x="960120" y="5303520"/>
            <a:ext cx="102870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C9D9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use two models?  </a:t>
            </a:r>
            <a:pPr indent="0" marL="0">
              <a:buNone/>
            </a:pPr>
            <a:r>
              <a:rPr lang="en-US" sz="1300" dirty="0">
                <a:solidFill>
                  <a:srgbClr val="F7F9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models were trained and evaluated to determine which performed better on the test data.</a:t>
            </a:r>
            <a:endParaRPr lang="en-US" sz="13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9144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Evaluation Metrics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1078992"/>
            <a:ext cx="10607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models were evaluated using four main metrics.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2487168" cy="3291840"/>
          </a:xfrm>
          <a:prstGeom prst="roundRect">
            <a:avLst>
              <a:gd name="adj" fmla="val 3676"/>
            </a:avLst>
          </a:prstGeom>
          <a:solidFill>
            <a:srgbClr val="FFFFFF"/>
          </a:solidFill>
          <a:ln w="12700">
            <a:solidFill>
              <a:srgbClr val="E3EAF1"/>
            </a:solidFill>
            <a:prstDash val="solid"/>
          </a:ln>
          <a:effectLst>
            <a:outerShdw sx="100000" sy="100000" kx="0" ky="0" algn="bl" rotWithShape="0" blurRad="76200" dist="25400" dir="5400000">
              <a:srgbClr val="1F3864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563624" y="2103120"/>
            <a:ext cx="640080" cy="640080"/>
          </a:xfrm>
          <a:prstGeom prst="ellipse">
            <a:avLst/>
          </a:prstGeom>
          <a:solidFill>
            <a:srgbClr val="1F3864"/>
          </a:solidFill>
          <a:ln/>
        </p:spPr>
      </p:sp>
      <p:sp>
        <p:nvSpPr>
          <p:cNvPr id="6" name="Text 4"/>
          <p:cNvSpPr/>
          <p:nvPr/>
        </p:nvSpPr>
        <p:spPr>
          <a:xfrm>
            <a:off x="1563624" y="210312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7F9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822960" y="2926080"/>
            <a:ext cx="212140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96112" y="3429000"/>
            <a:ext cx="1975104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Measures the overall percentage of correct predictions.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3383280" y="1783080"/>
            <a:ext cx="2487168" cy="3291840"/>
          </a:xfrm>
          <a:prstGeom prst="roundRect">
            <a:avLst>
              <a:gd name="adj" fmla="val 3676"/>
            </a:avLst>
          </a:prstGeom>
          <a:solidFill>
            <a:srgbClr val="FFFFFF"/>
          </a:solidFill>
          <a:ln w="12700">
            <a:solidFill>
              <a:srgbClr val="E3EAF1"/>
            </a:solidFill>
            <a:prstDash val="solid"/>
          </a:ln>
          <a:effectLst>
            <a:outerShdw sx="100000" sy="100000" kx="0" ky="0" algn="bl" rotWithShape="0" blurRad="76200" dist="25400" dir="5400000">
              <a:srgbClr val="1F3864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306824" y="2103120"/>
            <a:ext cx="640080" cy="640080"/>
          </a:xfrm>
          <a:prstGeom prst="ellipse">
            <a:avLst/>
          </a:prstGeom>
          <a:solidFill>
            <a:srgbClr val="3B6EA5"/>
          </a:solidFill>
          <a:ln/>
        </p:spPr>
      </p:sp>
      <p:sp>
        <p:nvSpPr>
          <p:cNvPr id="11" name="Text 9"/>
          <p:cNvSpPr/>
          <p:nvPr/>
        </p:nvSpPr>
        <p:spPr>
          <a:xfrm>
            <a:off x="4306824" y="210312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7F9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3566160" y="2926080"/>
            <a:ext cx="212140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3639312" y="3429000"/>
            <a:ext cx="1975104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Measures how many patients predicted as having heart disease actually belonged to the heart-disease class.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126480" y="1783080"/>
            <a:ext cx="2487168" cy="3291840"/>
          </a:xfrm>
          <a:prstGeom prst="roundRect">
            <a:avLst>
              <a:gd name="adj" fmla="val 3676"/>
            </a:avLst>
          </a:prstGeom>
          <a:solidFill>
            <a:srgbClr val="FFFFFF"/>
          </a:solidFill>
          <a:ln w="12700">
            <a:solidFill>
              <a:srgbClr val="E3EAF1"/>
            </a:solidFill>
            <a:prstDash val="solid"/>
          </a:ln>
          <a:effectLst>
            <a:outerShdw sx="100000" sy="100000" kx="0" ky="0" algn="bl" rotWithShape="0" blurRad="76200" dist="25400" dir="5400000">
              <a:srgbClr val="1F3864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7050024" y="2103120"/>
            <a:ext cx="640080" cy="640080"/>
          </a:xfrm>
          <a:prstGeom prst="ellipse">
            <a:avLst/>
          </a:prstGeom>
          <a:solidFill>
            <a:srgbClr val="1F3864"/>
          </a:solidFill>
          <a:ln/>
        </p:spPr>
      </p:sp>
      <p:sp>
        <p:nvSpPr>
          <p:cNvPr id="16" name="Text 14"/>
          <p:cNvSpPr/>
          <p:nvPr/>
        </p:nvSpPr>
        <p:spPr>
          <a:xfrm>
            <a:off x="7050024" y="210312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7F9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6309360" y="2926080"/>
            <a:ext cx="212140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382512" y="3429000"/>
            <a:ext cx="1975104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Measures how many actual heart-disease cases were correctly identified.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8869680" y="1783080"/>
            <a:ext cx="2487168" cy="3291840"/>
          </a:xfrm>
          <a:prstGeom prst="roundRect">
            <a:avLst>
              <a:gd name="adj" fmla="val 3676"/>
            </a:avLst>
          </a:prstGeom>
          <a:solidFill>
            <a:srgbClr val="FFFFFF"/>
          </a:solidFill>
          <a:ln w="12700">
            <a:solidFill>
              <a:srgbClr val="E3EAF1"/>
            </a:solidFill>
            <a:prstDash val="solid"/>
          </a:ln>
          <a:effectLst>
            <a:outerShdw sx="100000" sy="100000" kx="0" ky="0" algn="bl" rotWithShape="0" blurRad="76200" dist="25400" dir="5400000">
              <a:srgbClr val="1F3864">
                <a:alpha val="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9793224" y="2103120"/>
            <a:ext cx="640080" cy="640080"/>
          </a:xfrm>
          <a:prstGeom prst="ellipse">
            <a:avLst/>
          </a:prstGeom>
          <a:solidFill>
            <a:srgbClr val="3B6EA5"/>
          </a:solidFill>
          <a:ln/>
        </p:spPr>
      </p:sp>
      <p:sp>
        <p:nvSpPr>
          <p:cNvPr id="21" name="Text 19"/>
          <p:cNvSpPr/>
          <p:nvPr/>
        </p:nvSpPr>
        <p:spPr>
          <a:xfrm>
            <a:off x="9793224" y="210312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7F9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9052560" y="2926080"/>
            <a:ext cx="212140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ROC-AUC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9125712" y="3429000"/>
            <a:ext cx="1975104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Measures how well the model distinguishes between the two classes.</a:t>
            </a:r>
            <a:endParaRPr lang="en-US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9144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 Performance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1078992"/>
            <a:ext cx="10607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Actual results on the held-out test set.</a:t>
            </a:r>
            <a:endParaRPr lang="en-US" sz="14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640080" y="1691640"/>
          <a:ext cx="6675120" cy="42976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7635240" y="1691640"/>
            <a:ext cx="3931920" cy="4617720"/>
          </a:xfrm>
          <a:prstGeom prst="roundRect">
            <a:avLst>
              <a:gd name="adj" fmla="val 2791"/>
            </a:avLst>
          </a:prstGeom>
          <a:solidFill>
            <a:srgbClr val="14233D"/>
          </a:solidFill>
          <a:ln/>
        </p:spPr>
      </p:sp>
      <p:sp>
        <p:nvSpPr>
          <p:cNvPr id="6" name="Text 3"/>
          <p:cNvSpPr/>
          <p:nvPr/>
        </p:nvSpPr>
        <p:spPr>
          <a:xfrm>
            <a:off x="7955280" y="1984248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C9D9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MODEL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7955280" y="2258568"/>
            <a:ext cx="3291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7F9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Logistic Regression</a:t>
            </a:r>
            <a:endParaRPr lang="en-US" sz="2100" dirty="0"/>
          </a:p>
        </p:txBody>
      </p:sp>
      <p:sp>
        <p:nvSpPr>
          <p:cNvPr id="8" name="Shape 5"/>
          <p:cNvSpPr/>
          <p:nvPr/>
        </p:nvSpPr>
        <p:spPr>
          <a:xfrm>
            <a:off x="7955280" y="2971800"/>
            <a:ext cx="3291840" cy="594360"/>
          </a:xfrm>
          <a:prstGeom prst="roundRect">
            <a:avLst>
              <a:gd name="adj" fmla="val 12308"/>
            </a:avLst>
          </a:prstGeom>
          <a:solidFill>
            <a:srgbClr val="FFFFFF"/>
          </a:solidFill>
          <a:ln/>
        </p:spPr>
      </p:sp>
      <p:sp>
        <p:nvSpPr>
          <p:cNvPr id="9" name="Text 6"/>
          <p:cNvSpPr/>
          <p:nvPr/>
        </p:nvSpPr>
        <p:spPr>
          <a:xfrm>
            <a:off x="8138160" y="2971800"/>
            <a:ext cx="1737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7955280" y="2971800"/>
            <a:ext cx="2926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1F38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84.24%</a:t>
            </a:r>
            <a:endParaRPr lang="en-US" sz="1800" dirty="0"/>
          </a:p>
        </p:txBody>
      </p:sp>
      <p:sp>
        <p:nvSpPr>
          <p:cNvPr id="11" name="Shape 8"/>
          <p:cNvSpPr/>
          <p:nvPr/>
        </p:nvSpPr>
        <p:spPr>
          <a:xfrm>
            <a:off x="7955280" y="3703320"/>
            <a:ext cx="3291840" cy="594360"/>
          </a:xfrm>
          <a:prstGeom prst="roundRect">
            <a:avLst>
              <a:gd name="adj" fmla="val 12308"/>
            </a:avLst>
          </a:prstGeom>
          <a:solidFill>
            <a:srgbClr val="FFFFFF"/>
          </a:solidFill>
          <a:ln/>
        </p:spPr>
      </p:sp>
      <p:sp>
        <p:nvSpPr>
          <p:cNvPr id="12" name="Text 9"/>
          <p:cNvSpPr/>
          <p:nvPr/>
        </p:nvSpPr>
        <p:spPr>
          <a:xfrm>
            <a:off x="8138160" y="3703320"/>
            <a:ext cx="1737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7955280" y="3703320"/>
            <a:ext cx="2926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1F38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84.11%</a:t>
            </a:r>
            <a:endParaRPr lang="en-US" sz="1800" dirty="0"/>
          </a:p>
        </p:txBody>
      </p:sp>
      <p:sp>
        <p:nvSpPr>
          <p:cNvPr id="14" name="Shape 11"/>
          <p:cNvSpPr/>
          <p:nvPr/>
        </p:nvSpPr>
        <p:spPr>
          <a:xfrm>
            <a:off x="7955280" y="4434840"/>
            <a:ext cx="3291840" cy="594360"/>
          </a:xfrm>
          <a:prstGeom prst="roundRect">
            <a:avLst>
              <a:gd name="adj" fmla="val 12308"/>
            </a:avLst>
          </a:prstGeom>
          <a:solidFill>
            <a:srgbClr val="FFFFFF"/>
          </a:solidFill>
          <a:ln/>
        </p:spPr>
      </p:sp>
      <p:sp>
        <p:nvSpPr>
          <p:cNvPr id="15" name="Text 12"/>
          <p:cNvSpPr/>
          <p:nvPr/>
        </p:nvSpPr>
        <p:spPr>
          <a:xfrm>
            <a:off x="8138160" y="4434840"/>
            <a:ext cx="1737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7955280" y="4434840"/>
            <a:ext cx="2926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1F38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88.24%</a:t>
            </a:r>
            <a:endParaRPr lang="en-US" sz="1800" dirty="0"/>
          </a:p>
        </p:txBody>
      </p:sp>
      <p:sp>
        <p:nvSpPr>
          <p:cNvPr id="17" name="Text 14"/>
          <p:cNvSpPr/>
          <p:nvPr/>
        </p:nvSpPr>
        <p:spPr>
          <a:xfrm>
            <a:off x="7955280" y="5276088"/>
            <a:ext cx="329184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i="1" dirty="0">
                <a:solidFill>
                  <a:srgbClr val="D3E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Tree scored 78.26% accuracy, 80.39% precision, and 80.39% recall — lower across all three metrics.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058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Confusion Matrix &amp; ROC Curve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234440"/>
            <a:ext cx="5349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CONFUSION MATRIX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1508760"/>
            <a:ext cx="5349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confusion matrix shows True Negatives, False Positives, False Negatives, and True Positives.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640080" y="2103120"/>
            <a:ext cx="5349240" cy="3977640"/>
          </a:xfrm>
          <a:prstGeom prst="roundRect">
            <a:avLst>
              <a:gd name="adj" fmla="val 2299"/>
            </a:avLst>
          </a:prstGeom>
          <a:solidFill>
            <a:srgbClr val="FFFFFF"/>
          </a:solidFill>
          <a:ln w="12700">
            <a:solidFill>
              <a:srgbClr val="E3EAF1"/>
            </a:solidFill>
            <a:prstDash val="solid"/>
          </a:ln>
          <a:effectLst>
            <a:outerShdw sx="100000" sy="100000" kx="0" ky="0" algn="bl" rotWithShape="0" blurRad="76200" dist="25400" dir="5400000">
              <a:srgbClr val="1F3864">
                <a:alpha val="8000"/>
              </a:srgbClr>
            </a:outerShdw>
          </a:effectLst>
        </p:spPr>
      </p:sp>
      <p:pic>
        <p:nvPicPr>
          <p:cNvPr id="6" name="Image 0" descr="/home/claude/heart_ppt/confusion_matrix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2286000"/>
            <a:ext cx="4892040" cy="3764383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263640" y="1234440"/>
            <a:ext cx="5303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3B6E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ROC CURVE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6263640" y="1508760"/>
            <a:ext cx="5303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Logistic Regression model achieved </a:t>
            </a:r>
            <a:pPr indent="0" marL="0">
              <a:lnSpc>
                <a:spcPts val="1500"/>
              </a:lnSpc>
              <a:buNone/>
            </a:pPr>
            <a:r>
              <a:rPr lang="en-US" sz="1200" b="1" dirty="0">
                <a:solidFill>
                  <a:srgbClr val="3B6E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ROC-AUC = 0.9032</a:t>
            </a:r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indicating good separation between the two target classes.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6263640" y="2103120"/>
            <a:ext cx="5303520" cy="3977640"/>
          </a:xfrm>
          <a:prstGeom prst="roundRect">
            <a:avLst>
              <a:gd name="adj" fmla="val 2299"/>
            </a:avLst>
          </a:prstGeom>
          <a:solidFill>
            <a:srgbClr val="FFFFFF"/>
          </a:solidFill>
          <a:ln w="12700">
            <a:solidFill>
              <a:srgbClr val="E3EAF1"/>
            </a:solidFill>
            <a:prstDash val="solid"/>
          </a:ln>
          <a:effectLst>
            <a:outerShdw sx="100000" sy="100000" kx="0" ky="0" algn="bl" rotWithShape="0" blurRad="76200" dist="25400" dir="5400000">
              <a:srgbClr val="1F3864">
                <a:alpha val="8000"/>
              </a:srgbClr>
            </a:outerShdw>
          </a:effectLst>
        </p:spPr>
      </p:sp>
      <p:pic>
        <p:nvPicPr>
          <p:cNvPr id="10" name="Image 1" descr="/home/claude/heart_ppt/roc_curv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240" y="2181012"/>
            <a:ext cx="4846320" cy="3821857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423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645920" y="4572000"/>
            <a:ext cx="4572000" cy="4572000"/>
          </a:xfrm>
          <a:prstGeom prst="ellipse">
            <a:avLst/>
          </a:prstGeom>
          <a:solidFill>
            <a:srgbClr val="1F3864">
              <a:alpha val="55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457200"/>
            <a:ext cx="10058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7F9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 &amp; Future Scope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234440"/>
            <a:ext cx="5760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C9D9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40080" y="1536192"/>
            <a:ext cx="5760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F7F9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complete machine-learning pipeline was successfully implemented for heart disease prediction.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822960" y="2148840"/>
            <a:ext cx="548640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52400" indent="-152400">
              <a:lnSpc>
                <a:spcPts val="1600"/>
              </a:lnSpc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F7F9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Missing-value handling</a:t>
            </a:r>
            <a:endParaRPr lang="en-US" sz="1250" dirty="0"/>
          </a:p>
          <a:p>
            <a:pPr marL="152400" indent="-152400">
              <a:lnSpc>
                <a:spcPts val="1600"/>
              </a:lnSpc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F7F9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encoding</a:t>
            </a:r>
            <a:endParaRPr lang="en-US" sz="1250" dirty="0"/>
          </a:p>
          <a:p>
            <a:pPr marL="152400" indent="-152400">
              <a:lnSpc>
                <a:spcPts val="1600"/>
              </a:lnSpc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F7F9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scaling</a:t>
            </a:r>
            <a:endParaRPr lang="en-US" sz="1250" dirty="0"/>
          </a:p>
          <a:p>
            <a:pPr marL="152400" indent="-152400">
              <a:lnSpc>
                <a:spcPts val="1600"/>
              </a:lnSpc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F7F9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/ test splitting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640080" y="3520440"/>
            <a:ext cx="5760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i="1" dirty="0">
                <a:solidFill>
                  <a:srgbClr val="D3E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models were evaluated, and Logistic Regression performed better.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40080" y="4160520"/>
            <a:ext cx="5760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C9D9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PERFORMANCE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40080" y="4480560"/>
            <a:ext cx="132588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4553712"/>
            <a:ext cx="1325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84.24%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640080" y="5029200"/>
            <a:ext cx="1325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2103120" y="4480560"/>
            <a:ext cx="132588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/>
        </p:spPr>
      </p:sp>
      <p:sp>
        <p:nvSpPr>
          <p:cNvPr id="13" name="Text 11"/>
          <p:cNvSpPr/>
          <p:nvPr/>
        </p:nvSpPr>
        <p:spPr>
          <a:xfrm>
            <a:off x="2103120" y="4553712"/>
            <a:ext cx="1325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84.11%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2103120" y="5029200"/>
            <a:ext cx="1325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3566160" y="4480560"/>
            <a:ext cx="132588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/>
        </p:spPr>
      </p:sp>
      <p:sp>
        <p:nvSpPr>
          <p:cNvPr id="16" name="Text 14"/>
          <p:cNvSpPr/>
          <p:nvPr/>
        </p:nvSpPr>
        <p:spPr>
          <a:xfrm>
            <a:off x="3566160" y="4553712"/>
            <a:ext cx="1325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88.24%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3566160" y="5029200"/>
            <a:ext cx="1325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5029200" y="4480560"/>
            <a:ext cx="132588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/>
        </p:spPr>
      </p:sp>
      <p:sp>
        <p:nvSpPr>
          <p:cNvPr id="19" name="Text 17"/>
          <p:cNvSpPr/>
          <p:nvPr/>
        </p:nvSpPr>
        <p:spPr>
          <a:xfrm>
            <a:off x="5029200" y="4553712"/>
            <a:ext cx="1325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90.32%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5029200" y="5029200"/>
            <a:ext cx="1325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ROC-AUC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6903720" y="1234440"/>
            <a:ext cx="4663440" cy="4206240"/>
          </a:xfrm>
          <a:prstGeom prst="roundRect">
            <a:avLst>
              <a:gd name="adj" fmla="val 2609"/>
            </a:avLst>
          </a:prstGeom>
          <a:solidFill>
            <a:srgbClr val="FFFFFF"/>
          </a:solidFill>
          <a:ln/>
        </p:spPr>
      </p:sp>
      <p:sp>
        <p:nvSpPr>
          <p:cNvPr id="22" name="Text 20"/>
          <p:cNvSpPr/>
          <p:nvPr/>
        </p:nvSpPr>
        <p:spPr>
          <a:xfrm>
            <a:off x="7223760" y="1508760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SCOPE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7223760" y="2011680"/>
            <a:ext cx="310896" cy="310896"/>
          </a:xfrm>
          <a:prstGeom prst="ellipse">
            <a:avLst/>
          </a:prstGeom>
          <a:solidFill>
            <a:srgbClr val="3B6EA5"/>
          </a:solidFill>
          <a:ln/>
        </p:spPr>
      </p:sp>
      <p:sp>
        <p:nvSpPr>
          <p:cNvPr id="24" name="Text 22"/>
          <p:cNvSpPr/>
          <p:nvPr/>
        </p:nvSpPr>
        <p:spPr>
          <a:xfrm>
            <a:off x="7223760" y="2011680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7F9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7680960" y="1956816"/>
            <a:ext cx="35661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Hyperparameter tuning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7223760" y="2578608"/>
            <a:ext cx="310896" cy="310896"/>
          </a:xfrm>
          <a:prstGeom prst="ellipse">
            <a:avLst/>
          </a:prstGeom>
          <a:solidFill>
            <a:srgbClr val="1F3864"/>
          </a:solidFill>
          <a:ln/>
        </p:spPr>
      </p:sp>
      <p:sp>
        <p:nvSpPr>
          <p:cNvPr id="27" name="Text 25"/>
          <p:cNvSpPr/>
          <p:nvPr/>
        </p:nvSpPr>
        <p:spPr>
          <a:xfrm>
            <a:off x="7223760" y="2578608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7F9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7680960" y="2523744"/>
            <a:ext cx="35661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Cross-validation</a:t>
            </a:r>
            <a:endParaRPr lang="en-US" sz="1250" dirty="0"/>
          </a:p>
        </p:txBody>
      </p:sp>
      <p:sp>
        <p:nvSpPr>
          <p:cNvPr id="29" name="Shape 27"/>
          <p:cNvSpPr/>
          <p:nvPr/>
        </p:nvSpPr>
        <p:spPr>
          <a:xfrm>
            <a:off x="7223760" y="3145536"/>
            <a:ext cx="310896" cy="310896"/>
          </a:xfrm>
          <a:prstGeom prst="ellipse">
            <a:avLst/>
          </a:prstGeom>
          <a:solidFill>
            <a:srgbClr val="3B6EA5"/>
          </a:solidFill>
          <a:ln/>
        </p:spPr>
      </p:sp>
      <p:sp>
        <p:nvSpPr>
          <p:cNvPr id="30" name="Text 28"/>
          <p:cNvSpPr/>
          <p:nvPr/>
        </p:nvSpPr>
        <p:spPr>
          <a:xfrm>
            <a:off x="7223760" y="3145536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7F9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7680960" y="3090672"/>
            <a:ext cx="35661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 on larger and more diverse datasets</a:t>
            </a:r>
            <a:endParaRPr lang="en-US" sz="1250" dirty="0"/>
          </a:p>
        </p:txBody>
      </p:sp>
      <p:sp>
        <p:nvSpPr>
          <p:cNvPr id="32" name="Shape 30"/>
          <p:cNvSpPr/>
          <p:nvPr/>
        </p:nvSpPr>
        <p:spPr>
          <a:xfrm>
            <a:off x="7223760" y="3712464"/>
            <a:ext cx="310896" cy="310896"/>
          </a:xfrm>
          <a:prstGeom prst="ellipse">
            <a:avLst/>
          </a:prstGeom>
          <a:solidFill>
            <a:srgbClr val="1F3864"/>
          </a:solidFill>
          <a:ln/>
        </p:spPr>
      </p:sp>
      <p:sp>
        <p:nvSpPr>
          <p:cNvPr id="33" name="Text 31"/>
          <p:cNvSpPr/>
          <p:nvPr/>
        </p:nvSpPr>
        <p:spPr>
          <a:xfrm>
            <a:off x="7223760" y="3712464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7F9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7680960" y="3657600"/>
            <a:ext cx="35661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Development of an interactive web interface</a:t>
            </a:r>
            <a:endParaRPr lang="en-US" sz="1250" dirty="0"/>
          </a:p>
        </p:txBody>
      </p:sp>
      <p:sp>
        <p:nvSpPr>
          <p:cNvPr id="35" name="Shape 33"/>
          <p:cNvSpPr/>
          <p:nvPr/>
        </p:nvSpPr>
        <p:spPr>
          <a:xfrm>
            <a:off x="7223760" y="4279392"/>
            <a:ext cx="310896" cy="310896"/>
          </a:xfrm>
          <a:prstGeom prst="ellipse">
            <a:avLst/>
          </a:prstGeom>
          <a:solidFill>
            <a:srgbClr val="3B6EA5"/>
          </a:solidFill>
          <a:ln/>
        </p:spPr>
      </p:sp>
      <p:sp>
        <p:nvSpPr>
          <p:cNvPr id="36" name="Text 34"/>
          <p:cNvSpPr/>
          <p:nvPr/>
        </p:nvSpPr>
        <p:spPr>
          <a:xfrm>
            <a:off x="7223760" y="4279392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7F9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7680960" y="4224528"/>
            <a:ext cx="35661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Further validation before any real-world clinical use</a:t>
            </a:r>
            <a:endParaRPr lang="en-US" sz="1250" dirty="0"/>
          </a:p>
        </p:txBody>
      </p:sp>
      <p:sp>
        <p:nvSpPr>
          <p:cNvPr id="38" name="Text 36"/>
          <p:cNvSpPr/>
          <p:nvPr/>
        </p:nvSpPr>
        <p:spPr>
          <a:xfrm>
            <a:off x="6903720" y="5605272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D3E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Note: This project is for educational purposes and is not a medical diagnostic system.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2026-08-22T17:03:23Z</dcterms:created>
  <dcterms:modified xsi:type="dcterms:W3CDTF">2026-08-22T17:03:23Z</dcterms:modified>
</cp:coreProperties>
</file>